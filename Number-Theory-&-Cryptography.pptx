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notesMasterIdLst>
    <p:notesMasterId r:id="rId19"/>
  </p:notesMasterIdLst>
  <p:sldIdLst>
    <p:sldId id="256" r:id="rId2"/>
    <p:sldId id="272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4D2B4C-D054-4128-81CD-340802C8DE9C}" type="datetimeFigureOut">
              <a:rPr lang="en-US" smtClean="0"/>
              <a:t>5/24/2025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87D1E-4A15-4B38-A345-129E4813B4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75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6726063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4243845"/>
            <a:ext cx="2307831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6726064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833787" y="2590078"/>
            <a:ext cx="2307832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2" y="2733709"/>
            <a:ext cx="6069268" cy="1373070"/>
          </a:xfrm>
        </p:spPr>
        <p:txBody>
          <a:bodyPr anchor="b">
            <a:noAutofit/>
          </a:bodyPr>
          <a:lstStyle>
            <a:lvl1pPr algn="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4394040"/>
            <a:ext cx="6108101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55655" y="5936188"/>
            <a:ext cx="2057400" cy="365125"/>
          </a:xfrm>
        </p:spPr>
        <p:txBody>
          <a:bodyPr/>
          <a:lstStyle/>
          <a:p>
            <a:fld id="{9060D1BE-CCBF-4342-A9EB-10FB4C5C1DF2}" type="datetime1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1" y="5936189"/>
            <a:ext cx="4021666" cy="365125"/>
          </a:xfrm>
        </p:spPr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010399" y="2750337"/>
            <a:ext cx="1370293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5627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8" name="Picture 2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9" name="Picture 2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0" name="Rectangle 2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Rectangle 3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FD5B39-3C00-40F1-9C42-88E67EF39528}" type="datetime1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5594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2728432"/>
            <a:ext cx="9161969" cy="1677035"/>
            <a:chOff x="0" y="2895600"/>
            <a:chExt cx="9161969" cy="1677035"/>
          </a:xfrm>
        </p:grpSpPr>
        <p:pic>
          <p:nvPicPr>
            <p:cNvPr id="19" name="Picture 1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0" name="Picture 1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1" name="Rectangle 2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2869895"/>
            <a:ext cx="688915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1639" y="4232172"/>
            <a:ext cx="688915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65810" y="5936188"/>
            <a:ext cx="2057400" cy="365125"/>
          </a:xfrm>
        </p:spPr>
        <p:txBody>
          <a:bodyPr/>
          <a:lstStyle/>
          <a:p>
            <a:fld id="{7AB60C78-FACA-4092-90EA-6B8AD04CFA4B}" type="datetime1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400" y="5936189"/>
            <a:ext cx="4834673" cy="365125"/>
          </a:xfrm>
        </p:spPr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56438" y="286989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314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753228"/>
            <a:ext cx="688739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3400" y="2336873"/>
            <a:ext cx="3357899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61128" y="2336873"/>
            <a:ext cx="3359661" cy="35993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4C74D-2531-4904-B8EC-CC448E77E983}" type="datetime1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406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9" name="Picture 28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0" name="Picture 29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1" name="Rectangle 30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Rectangle 31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30"/>
            <a:ext cx="6896534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0988" y="2336874"/>
            <a:ext cx="3145080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1638" y="3030009"/>
            <a:ext cx="3367045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82646" y="2336873"/>
            <a:ext cx="3145527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61129" y="3030009"/>
            <a:ext cx="3367044" cy="29061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F9703-C656-4868-B3DE-88659F098120}" type="datetime1">
              <a:rPr lang="en-US" smtClean="0"/>
              <a:t>5/24/2025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14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6" name="Picture 15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7" name="Picture 16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8" name="Rectangle 17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88F614-9DDC-4E2B-B929-D8FB3F707DAC}" type="datetime1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620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HD-ShadowShort.pn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71"/>
          <a:stretch/>
        </p:blipFill>
        <p:spPr>
          <a:xfrm>
            <a:off x="7717217" y="1973262"/>
            <a:ext cx="1444752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710769" y="609600"/>
            <a:ext cx="1433231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546BD-71E5-484B-9631-45AA0AE83AA8}" type="datetime1">
              <a:rPr lang="en-US" smtClean="0"/>
              <a:t>5/24/2025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5627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7"/>
            <a:ext cx="6896534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2336874"/>
            <a:ext cx="3913788" cy="3599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2336873"/>
            <a:ext cx="2796240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8FE43-E7C1-47B8-AEA4-BA46D059D652}" type="datetime1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330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8" name="Picture 17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9" name="Picture 18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0" name="Rectangle 19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Rectangle 20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10956" y="2336874"/>
            <a:ext cx="3917217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2336874"/>
            <a:ext cx="2798487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1F5AB-01EF-45BB-A3C5-24E356AD906A}" type="datetime1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9312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3" y="4711617"/>
            <a:ext cx="6894770" cy="544482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1639" y="609598"/>
            <a:ext cx="6896534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3401" y="5256098"/>
            <a:ext cx="6894772" cy="547819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6488D-E3D6-4C08-B78B-76E68A5EDD94}" type="datetime1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310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1526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2" name="Picture 21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3" name="Picture 22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4" name="Rectangle 23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4255" y="609597"/>
            <a:ext cx="6896534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889151" cy="1101764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857F2A-B644-4265-B86F-2FAA33859386}" type="datetime1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1161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8713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30" name="Picture 29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1" name="Picture 30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2" name="Rectangle 31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921" y="616983"/>
            <a:ext cx="642514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989438" y="3660763"/>
            <a:ext cx="5987731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8" y="4710340"/>
            <a:ext cx="6903919" cy="110176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2EC9E-618B-489E-9D03-96B84CD92E20}" type="datetime1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270932" y="748116"/>
            <a:ext cx="5334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191" y="2998573"/>
            <a:ext cx="457200" cy="58477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46601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/>
          <p:cNvGrpSpPr/>
          <p:nvPr/>
        </p:nvGrpSpPr>
        <p:grpSpPr>
          <a:xfrm>
            <a:off x="0" y="4572000"/>
            <a:ext cx="9161969" cy="1677035"/>
            <a:chOff x="0" y="2895600"/>
            <a:chExt cx="9161969" cy="1677035"/>
          </a:xfrm>
        </p:grpSpPr>
        <p:pic>
          <p:nvPicPr>
            <p:cNvPr id="23" name="Picture 22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4" name="Picture 23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5" name="Rectangle 24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8" y="4710340"/>
            <a:ext cx="6896534" cy="58981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639" y="5300150"/>
            <a:ext cx="6896534" cy="511954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9CCB5E-DBBA-4126-B15D-679E5282228A}" type="datetime1">
              <a:rPr lang="en-US" smtClean="0"/>
              <a:t>5/24/2025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56438" y="4709926"/>
            <a:ext cx="1149836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3462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24" name="Picture 23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25" name="Picture 24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32629" y="2329489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39777" y="3015290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8413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879710" y="3007906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26136" y="2336873"/>
            <a:ext cx="2194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233520" y="3007905"/>
            <a:ext cx="219456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22C17-6E34-479B-BE3F-5CE8C19A105E}" type="datetime1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3793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35" name="Picture 34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36" name="Picture 35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37" name="Rectangle 36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8" name="Rectangle 37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32391" y="4297503"/>
            <a:ext cx="21922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32391" y="2336873"/>
            <a:ext cx="2192257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32391" y="4873765"/>
            <a:ext cx="219225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870497" y="4297503"/>
            <a:ext cx="221507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870497" y="2336873"/>
            <a:ext cx="221507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869483" y="4873764"/>
            <a:ext cx="2218004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231028" y="4297503"/>
            <a:ext cx="219433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231027" y="2336873"/>
            <a:ext cx="2194333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230934" y="4873762"/>
            <a:ext cx="2197239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3BB924-1B78-452B-9CC9-26F8E55662FC}" type="datetime1">
              <a:rPr lang="en-US" smtClean="0"/>
              <a:t>5/24/2025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871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609600"/>
            <a:ext cx="9161969" cy="1677035"/>
            <a:chOff x="0" y="2895600"/>
            <a:chExt cx="9161969" cy="1677035"/>
          </a:xfrm>
        </p:grpSpPr>
        <p:pic>
          <p:nvPicPr>
            <p:cNvPr id="17" name="Picture 16" descr="HD-ShadowLong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982" r="-217"/>
            <a:stretch/>
          </p:blipFill>
          <p:spPr>
            <a:xfrm>
              <a:off x="0" y="4251471"/>
              <a:ext cx="7644384" cy="321164"/>
            </a:xfrm>
            <a:prstGeom prst="rect">
              <a:avLst/>
            </a:prstGeom>
          </p:spPr>
        </p:pic>
        <p:pic>
          <p:nvPicPr>
            <p:cNvPr id="18" name="Picture 17" descr="HD-ShadowShort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871"/>
            <a:stretch/>
          </p:blipFill>
          <p:spPr>
            <a:xfrm>
              <a:off x="7717217" y="4259262"/>
              <a:ext cx="1444752" cy="144270"/>
            </a:xfrm>
            <a:prstGeom prst="rect">
              <a:avLst/>
            </a:prstGeom>
          </p:spPr>
        </p:pic>
        <p:sp>
          <p:nvSpPr>
            <p:cNvPr id="19" name="Rectangle 18"/>
            <p:cNvSpPr/>
            <p:nvPr/>
          </p:nvSpPr>
          <p:spPr bwMode="ltGray">
            <a:xfrm>
              <a:off x="0" y="2895600"/>
              <a:ext cx="7567140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/>
            <p:cNvSpPr/>
            <p:nvPr/>
          </p:nvSpPr>
          <p:spPr>
            <a:xfrm>
              <a:off x="7710769" y="2895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CDCD5-1DF7-41FA-9E83-A53D18622245}" type="datetime1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0383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 rot="5400000">
            <a:off x="4575305" y="2747178"/>
            <a:ext cx="6862555" cy="1368199"/>
            <a:chOff x="2281445" y="609600"/>
            <a:chExt cx="6862555" cy="1368199"/>
          </a:xfrm>
        </p:grpSpPr>
        <p:sp>
          <p:nvSpPr>
            <p:cNvPr id="12" name="Rectangle 11"/>
            <p:cNvSpPr/>
            <p:nvPr/>
          </p:nvSpPr>
          <p:spPr bwMode="ltGray">
            <a:xfrm>
              <a:off x="2281445" y="609601"/>
              <a:ext cx="5285695" cy="1368198"/>
            </a:xfrm>
            <a:prstGeom prst="rect">
              <a:avLst/>
            </a:prstGeom>
            <a:solidFill>
              <a:schemeClr val="bg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7710769" y="609600"/>
              <a:ext cx="1433231" cy="13681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64798" y="609597"/>
            <a:ext cx="1069602" cy="446193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609598"/>
            <a:ext cx="6576359" cy="53265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029144" y="5936188"/>
            <a:ext cx="2057400" cy="365125"/>
          </a:xfrm>
        </p:spPr>
        <p:txBody>
          <a:bodyPr/>
          <a:lstStyle/>
          <a:p>
            <a:fld id="{878CCA64-9C7A-46B2-9E12-8C3C13C9556F}" type="datetime1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5936189"/>
            <a:ext cx="4518959" cy="365125"/>
          </a:xfrm>
        </p:spPr>
        <p:txBody>
          <a:bodyPr/>
          <a:lstStyle/>
          <a:p>
            <a:r>
              <a:rPr lang="en-US"/>
              <a:t>DENNIS MWENDWA SCT211-0743/2021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431152" y="5432500"/>
            <a:ext cx="1149636" cy="1273100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23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 descr="C:\Users\James\Desktop\msft\Berlin\build Assets\hashOverlaySD-FullResolve.png"/>
          <p:cNvPicPr>
            <a:picLocks noChangeAspect="1" noChangeArrowheads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9144000" cy="68580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1639" y="753228"/>
            <a:ext cx="6896534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2336873"/>
            <a:ext cx="6887389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67881" y="5936188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C88C2A-2CC9-48E1-A6FA-7200A583AB71}" type="datetime1">
              <a:rPr lang="en-US" smtClean="0"/>
              <a:t>5/24/2025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5936189"/>
            <a:ext cx="48346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DENNIS MWENDWA SCT211-0743/2021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48600" y="753228"/>
            <a:ext cx="1157674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81694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  <p:sldLayoutId id="2147483852" r:id="rId12"/>
    <p:sldLayoutId id="2147483853" r:id="rId13"/>
    <p:sldLayoutId id="2147483854" r:id="rId14"/>
    <p:sldLayoutId id="2147483855" r:id="rId15"/>
    <p:sldLayoutId id="2147483856" r:id="rId16"/>
    <p:sldLayoutId id="2147483857" r:id="rId17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1" y="2742465"/>
            <a:ext cx="6069268" cy="1373070"/>
          </a:xfrm>
        </p:spPr>
        <p:txBody>
          <a:bodyPr>
            <a:normAutofit fontScale="90000"/>
          </a:bodyPr>
          <a:lstStyle/>
          <a:p>
            <a:r>
              <a:rPr dirty="0"/>
              <a:t>Number Theory and Cryptography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Based on Kenneth Rosen’s Discrete Mathematics (Chapter 4)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E66001-D3DC-4D60-8130-513FBF4E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DENNIS MWENDWA SCT211-0743/2021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Number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Number theory is a branch of mathematics that focuses on the properties of integers. It encompasses fundamental concepts such as divisibility, greatest common divisors, least common multiples, and modular arithmetic, along with relevant algorithms.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6BA14-D290-4B69-91EB-F733E9BF6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  <p:extLst>
      <p:ext uri="{BB962C8B-B14F-4D97-AF65-F5344CB8AC3E}">
        <p14:creationId xmlns:p14="http://schemas.microsoft.com/office/powerpoint/2010/main" val="2512232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Number Theory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t>Focus: Properties of integers.</a:t>
            </a:r>
          </a:p>
          <a:p>
            <a:r>
              <a:t>Key Concepts:</a:t>
            </a:r>
          </a:p>
          <a:p>
            <a:r>
              <a:t>- Divisibility</a:t>
            </a:r>
          </a:p>
          <a:p>
            <a:r>
              <a:t>- Modular arithmetic</a:t>
            </a:r>
          </a:p>
          <a:p>
            <a:r>
              <a:t>- Prime numbers</a:t>
            </a:r>
          </a:p>
          <a:p>
            <a:r>
              <a:t>- GCD &amp; LCM</a:t>
            </a:r>
          </a:p>
          <a:p>
            <a:r>
              <a:t>- Integer representations</a:t>
            </a:r>
          </a:p>
          <a:p>
            <a:r>
              <a:t>- Congruences</a:t>
            </a:r>
          </a:p>
          <a:p>
            <a:r>
              <a:t>- Cryptography applications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D46BA14-D290-4B69-91EB-F733E9BF6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Divisibility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For integers a and b (a ≠ 0), a divides b (denoted as a | b) if there exists an integer c such that b = </a:t>
            </a:r>
            <a:r>
              <a:rPr lang="en-US" dirty="0" err="1"/>
              <a:t>a·c</a:t>
            </a:r>
            <a:r>
              <a:rPr lang="en-US" dirty="0"/>
              <a:t>.</a:t>
            </a:r>
          </a:p>
          <a:p>
            <a:r>
              <a:rPr dirty="0"/>
              <a:t>Divisibility Theorems:</a:t>
            </a:r>
          </a:p>
          <a:p>
            <a:pPr marL="0" indent="0">
              <a:buNone/>
            </a:pPr>
            <a:r>
              <a:rPr dirty="0"/>
              <a:t>- If a | b and a | c ⇒ a | (b + c)</a:t>
            </a:r>
          </a:p>
          <a:p>
            <a:pPr marL="0" indent="0">
              <a:buNone/>
            </a:pPr>
            <a:r>
              <a:rPr dirty="0"/>
              <a:t>- If a | b and b | c ⇒ a | c</a:t>
            </a:r>
          </a:p>
          <a:p>
            <a:pPr marL="0" indent="0">
              <a:buNone/>
            </a:pPr>
            <a:r>
              <a:rPr dirty="0"/>
              <a:t>- If a | b ⇒ a | </a:t>
            </a:r>
            <a:r>
              <a:rPr dirty="0" err="1"/>
              <a:t>bc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12EADB-FEA6-4804-83A2-25D85A1D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Division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any integer a and positive integer d, there exist unique integers q (quotient) and r (remainder) such that:</a:t>
            </a:r>
            <a:endParaRPr dirty="0"/>
          </a:p>
          <a:p>
            <a:r>
              <a:rPr dirty="0"/>
              <a:t>a = </a:t>
            </a:r>
            <a:r>
              <a:rPr dirty="0" err="1"/>
              <a:t>dq</a:t>
            </a:r>
            <a:r>
              <a:rPr dirty="0"/>
              <a:t> + r, where 0 ≤ r &lt; d</a:t>
            </a:r>
          </a:p>
          <a:p>
            <a:r>
              <a:rPr dirty="0"/>
              <a:t>Example: 17 = 5×3 + 2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C09932-4B53-4D19-BF5D-C5954903F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Prime Numbers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Prime: integer &gt; 1 with exactly two positive divisors</a:t>
            </a:r>
          </a:p>
          <a:p>
            <a:r>
              <a:t>Fundamental Theorem: Unique prime factorization</a:t>
            </a:r>
          </a:p>
          <a:p>
            <a:r>
              <a:t>Example: 60 = 2² × 3 × 5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0907BC-9925-463C-983F-07A270D03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GCD and LCM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GCD: Greatest number that divides both a and b</a:t>
            </a:r>
            <a:r>
              <a:rPr lang="en-US" dirty="0"/>
              <a:t> (The largest integer d such that d | a and d | b.)</a:t>
            </a:r>
            <a:endParaRPr dirty="0"/>
          </a:p>
          <a:p>
            <a:r>
              <a:rPr dirty="0"/>
              <a:t>LCM: Least number divisible by both a and b</a:t>
            </a:r>
          </a:p>
          <a:p>
            <a:r>
              <a:rPr dirty="0"/>
              <a:t>Relation: </a:t>
            </a:r>
            <a:r>
              <a:rPr dirty="0" err="1"/>
              <a:t>gcd</a:t>
            </a:r>
            <a:r>
              <a:rPr dirty="0"/>
              <a:t>(a, b) × lcm(a, b) = a × b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BF7465-AB9A-425C-97B3-77F2CC455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Euclidean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Efficient way to compute gcd(a, b)</a:t>
            </a:r>
          </a:p>
          <a:p>
            <a:r>
              <a:t>Repeat: a = bq + r, replace a with b, b with r</a:t>
            </a:r>
          </a:p>
          <a:p>
            <a:r>
              <a:t>Stop when r = 0; last non-zero remainder = GCD</a:t>
            </a:r>
          </a:p>
          <a:p>
            <a:r>
              <a:t>Example: gcd(287, 91) = 7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753D0-6B32-453B-87D1-B16E17415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Modular Arithmetic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mod m is the remainder when a is divided by m</a:t>
            </a:r>
          </a:p>
          <a:p>
            <a:r>
              <a:rPr dirty="0"/>
              <a:t>a ≡ b (mod m) if m divides (a - b)</a:t>
            </a:r>
            <a:endParaRPr lang="en-US" dirty="0"/>
          </a:p>
          <a:p>
            <a:r>
              <a:rPr lang="en-US" dirty="0"/>
              <a:t>Example: 29≡5(mod 12) because 29−5=24, which is divisible by 12.</a:t>
            </a:r>
          </a:p>
          <a:p>
            <a:r>
              <a:rPr lang="en-US" dirty="0"/>
              <a:t> </a:t>
            </a:r>
            <a:r>
              <a:rPr lang="en-US" b="1" i="1" dirty="0"/>
              <a:t>Properties of Modular Arithmetic: </a:t>
            </a:r>
          </a:p>
          <a:p>
            <a:pPr marL="0" indent="0">
              <a:buNone/>
            </a:pPr>
            <a:r>
              <a:rPr lang="en-US" dirty="0"/>
              <a:t>1. (</a:t>
            </a:r>
            <a:r>
              <a:rPr lang="en-US" dirty="0" err="1"/>
              <a:t>a+c</a:t>
            </a:r>
            <a:r>
              <a:rPr lang="en-US" dirty="0"/>
              <a:t>)≡(</a:t>
            </a:r>
            <a:r>
              <a:rPr lang="en-US" dirty="0" err="1"/>
              <a:t>b+d</a:t>
            </a:r>
            <a:r>
              <a:rPr lang="en-US" dirty="0"/>
              <a:t>)(mod m)</a:t>
            </a:r>
          </a:p>
          <a:p>
            <a:pPr marL="0" indent="0">
              <a:buNone/>
            </a:pPr>
            <a:r>
              <a:rPr lang="en-US" dirty="0"/>
              <a:t>2. (</a:t>
            </a:r>
            <a:r>
              <a:rPr lang="en-US" dirty="0" err="1"/>
              <a:t>a⋅c</a:t>
            </a:r>
            <a:r>
              <a:rPr lang="en-US" dirty="0"/>
              <a:t>)≡(</a:t>
            </a:r>
            <a:r>
              <a:rPr lang="en-US" dirty="0" err="1"/>
              <a:t>b⋅d</a:t>
            </a:r>
            <a:r>
              <a:rPr lang="en-US" dirty="0"/>
              <a:t>)(mod m) </a:t>
            </a:r>
            <a:endParaRPr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5A45D-E37E-4A89-A2B8-02EF1C3AF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Integer Representation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Each integer can be uniquely represented in base b &gt; 1</a:t>
            </a:r>
          </a:p>
          <a:p>
            <a:r>
              <a:rPr dirty="0"/>
              <a:t>n = </a:t>
            </a:r>
            <a:r>
              <a:rPr dirty="0" err="1"/>
              <a:t>a_k</a:t>
            </a:r>
            <a:r>
              <a:rPr dirty="0"/>
              <a:t> </a:t>
            </a:r>
            <a:r>
              <a:rPr dirty="0" err="1"/>
              <a:t>b^k</a:t>
            </a:r>
            <a:r>
              <a:rPr dirty="0"/>
              <a:t> + ... + a_0</a:t>
            </a:r>
          </a:p>
          <a:p>
            <a:r>
              <a:rPr dirty="0"/>
              <a:t>Example: 859 = 8×10² + 5×10 + 9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E99289-D4B3-4E8A-A290-393BCF76D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Binary Addition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rightmost bits with carry</a:t>
            </a:r>
          </a:p>
          <a:p>
            <a:r>
              <a:t>aᵢ + bᵢ + carry = 2cᵢ + sᵢ</a:t>
            </a:r>
          </a:p>
          <a:p>
            <a:r>
              <a:t>Example: (1110)₂ + (1011)₂ = (11001)₂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EEB39B-995D-4613-BC02-C550F2334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Solving Linear Congruences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Equation: ax ≡ b (mod m)</a:t>
            </a:r>
          </a:p>
          <a:p>
            <a:r>
              <a:t>Solution exists if gcd(a, m) divides b</a:t>
            </a:r>
          </a:p>
          <a:p>
            <a:r>
              <a:t>Use extended Euclidean algorithm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EB7359-BC82-40AF-B625-3BA7C4015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of Congruences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2336873"/>
            <a:ext cx="7669823" cy="3685858"/>
          </a:xfrm>
        </p:spPr>
        <p:txBody>
          <a:bodyPr>
            <a:normAutofit/>
          </a:bodyPr>
          <a:lstStyle/>
          <a:p>
            <a:r>
              <a:rPr dirty="0"/>
              <a:t>Used in: ISBN, calendars, cryptography</a:t>
            </a:r>
            <a:r>
              <a:rPr lang="en-US" dirty="0"/>
              <a:t> for error detection in identification numbers</a:t>
            </a:r>
          </a:p>
          <a:p>
            <a:r>
              <a:rPr lang="en-US" dirty="0"/>
              <a:t>Hashing Functions: Use modular arithmetic to assign memory locations (e.g., h(k) = k mod m).</a:t>
            </a:r>
          </a:p>
          <a:p>
            <a:r>
              <a:rPr lang="en-US" dirty="0"/>
              <a:t>Pseudorandom Numbers: Generated using linear congruential methods (e.g., xn+1=(</a:t>
            </a:r>
            <a:r>
              <a:rPr lang="en-US" dirty="0" err="1"/>
              <a:t>a⋅xn+c</a:t>
            </a:r>
            <a:r>
              <a:rPr lang="en-US" dirty="0"/>
              <a:t>)mod  m</a:t>
            </a:r>
            <a:r>
              <a:rPr lang="en-US" i="1" dirty="0"/>
              <a:t>xn</a:t>
            </a:r>
            <a:r>
              <a:rPr lang="en-US" dirty="0"/>
              <a:t>+1​=(</a:t>
            </a:r>
            <a:r>
              <a:rPr lang="en-US" i="1" dirty="0" err="1"/>
              <a:t>a</a:t>
            </a:r>
            <a:r>
              <a:rPr lang="en-US" dirty="0" err="1"/>
              <a:t>⋅</a:t>
            </a:r>
            <a:r>
              <a:rPr lang="en-US" i="1" dirty="0" err="1"/>
              <a:t>xn</a:t>
            </a:r>
            <a:r>
              <a:rPr lang="en-US" dirty="0"/>
              <a:t>​+</a:t>
            </a:r>
            <a:r>
              <a:rPr lang="en-US" i="1" dirty="0"/>
              <a:t>c</a:t>
            </a:r>
            <a:r>
              <a:rPr lang="en-US" dirty="0"/>
              <a:t>)</a:t>
            </a:r>
            <a:r>
              <a:rPr lang="en-US" dirty="0" err="1"/>
              <a:t>mod</a:t>
            </a:r>
            <a:r>
              <a:rPr lang="en-US" i="1" dirty="0" err="1"/>
              <a:t>m</a:t>
            </a:r>
            <a:r>
              <a:rPr lang="en-US" dirty="0"/>
              <a:t>).</a:t>
            </a:r>
            <a:endParaRPr dirty="0"/>
          </a:p>
          <a:p>
            <a:r>
              <a:rPr dirty="0"/>
              <a:t>Chinese Remainder Theorem: solve systems of congruences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C5ADA0-2E72-4BDC-93EF-33B7F1F5F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Cryptography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Classical: Caesar, substitution ciphers</a:t>
            </a:r>
          </a:p>
          <a:p>
            <a:r>
              <a:t>Modern: RSA, asymmetric encryption</a:t>
            </a:r>
          </a:p>
          <a:p>
            <a:r>
              <a:t>Based on number theory: primes &amp; modular exponentiation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F721C3-DDA3-405B-BA3A-FD556B87A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RSA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Steps:</a:t>
            </a:r>
          </a:p>
          <a:p>
            <a:r>
              <a:t>1. Choose primes p, q</a:t>
            </a:r>
          </a:p>
          <a:p>
            <a:r>
              <a:t>2. Compute n = pq, φ(n) = (p−1)(q−1)</a:t>
            </a:r>
          </a:p>
          <a:p>
            <a:r>
              <a:t>3. Choose e (gcd(e, φ(n)) = 1)</a:t>
            </a:r>
          </a:p>
          <a:p>
            <a:r>
              <a:t>4. Compute d ≡ e⁻¹ (mod φ(n))</a:t>
            </a:r>
          </a:p>
          <a:p>
            <a:r>
              <a:t>5. Public key = (e, n), Private key = d</a:t>
            </a:r>
          </a:p>
          <a:p>
            <a:r>
              <a:t>Encrypt: C = M^e mod n; Decrypt: M = C^d mod 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B79097-FE08-46EF-ADCC-CADE2D67C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Homomorphic Encryption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Allows computation on encrypted data</a:t>
            </a:r>
            <a:r>
              <a:rPr lang="en-US" dirty="0"/>
              <a:t> without decrypting it.</a:t>
            </a:r>
            <a:endParaRPr dirty="0"/>
          </a:p>
          <a:p>
            <a:r>
              <a:rPr dirty="0"/>
              <a:t>Useful for secure cloud computing</a:t>
            </a:r>
          </a:p>
          <a:p>
            <a:r>
              <a:rPr dirty="0"/>
              <a:t>Example: Enc(a) + Enc(b) = Enc(a + b)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959D18-F28C-46EE-8F78-F3EF004CE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Topics covered:</a:t>
            </a:r>
          </a:p>
          <a:p>
            <a:r>
              <a:t>- Divisibility, GCD, LCM</a:t>
            </a:r>
          </a:p>
          <a:p>
            <a:r>
              <a:t>- Modular arithmetic &amp; congruences</a:t>
            </a:r>
          </a:p>
          <a:p>
            <a:r>
              <a:t>- Integer representation</a:t>
            </a:r>
          </a:p>
          <a:p>
            <a:r>
              <a:t>- RSA cryptography</a:t>
            </a:r>
          </a:p>
          <a:p>
            <a:r>
              <a:t>Importance: real-world security &amp; computing foundations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4380E8-5383-429F-964E-612CC44C9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DENNIS MWENDWA SCT211-0743/2021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TM04033917[[fn=Berlin]]</Template>
  <TotalTime>37</TotalTime>
  <Words>738</Words>
  <Application>Microsoft Office PowerPoint</Application>
  <PresentationFormat>On-screen Show (4:3)</PresentationFormat>
  <Paragraphs>101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Trebuchet MS</vt:lpstr>
      <vt:lpstr>Berlin</vt:lpstr>
      <vt:lpstr>Number Theory and Cryptography</vt:lpstr>
      <vt:lpstr>Introduction to Number Theory</vt:lpstr>
      <vt:lpstr>Introduction to Number Theory</vt:lpstr>
      <vt:lpstr>Divisibility</vt:lpstr>
      <vt:lpstr>Division Algorithm</vt:lpstr>
      <vt:lpstr>Prime Numbers</vt:lpstr>
      <vt:lpstr>GCD and LCM</vt:lpstr>
      <vt:lpstr>Euclidean Algorithm</vt:lpstr>
      <vt:lpstr>Modular Arithmetic</vt:lpstr>
      <vt:lpstr>Integer Representation</vt:lpstr>
      <vt:lpstr>Binary Addition</vt:lpstr>
      <vt:lpstr>Solving Linear Congruences</vt:lpstr>
      <vt:lpstr>Applications of Congruences</vt:lpstr>
      <vt:lpstr>Cryptography Overview</vt:lpstr>
      <vt:lpstr>RSA Algorithm</vt:lpstr>
      <vt:lpstr>Homomorphic Encryption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Theory and Cryptography</dc:title>
  <dc:subject/>
  <dc:creator/>
  <cp:keywords/>
  <dc:description>generated using python-pptx</dc:description>
  <cp:lastModifiedBy>Deninjo 14</cp:lastModifiedBy>
  <cp:revision>5</cp:revision>
  <dcterms:created xsi:type="dcterms:W3CDTF">2013-01-27T09:14:16Z</dcterms:created>
  <dcterms:modified xsi:type="dcterms:W3CDTF">2025-05-24T18:47:28Z</dcterms:modified>
  <cp:category/>
</cp:coreProperties>
</file>